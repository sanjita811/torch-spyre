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62FE"/>
                </a:solidFill>
                <a:latin typeface="IBM Plex Sans"/>
              </a:rPr>
              <a:t>TORCH-SPYRE · PROJECT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457200"/>
            <a:ext cx="256032" cy="381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 i="0">
                <a:solidFill>
                  <a:srgbClr val="161616"/>
                </a:solidFill>
                <a:latin typeface="IBM Plex Sans"/>
              </a:rPr>
              <a:t>Bringing State-Space Models</a:t>
            </a:r>
          </a:p>
          <a:p>
            <a:r>
              <a:rPr sz="4600" b="1" i="0">
                <a:solidFill>
                  <a:srgbClr val="161616"/>
                </a:solidFill>
                <a:latin typeface="IBM Plex Sans"/>
              </a:rPr>
              <a:t>to the Spyre Accelerator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6F6F6F"/>
                </a:solidFill>
                <a:latin typeface="IBM Plex Sans"/>
              </a:rPr>
              <a:t>A production Mamba-2 SSD kernel, running fully on-device — the first structured-state-space sequence model on Spyre.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2514E"/>
                </a:solidFill>
                <a:latin typeface="IBM Plex Sans"/>
              </a:rPr>
              <a:t>Correctness validated vs. reference     ·     Optimized &amp; profiled on-card     ·     Sequence length up to 32K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61616"/>
                </a:solidFill>
                <a:latin typeface="IBM Plex Sans"/>
              </a:rPr>
              <a:t>IBM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F6F6F"/>
                </a:solidFill>
                <a:latin typeface="IBM Plex Sans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62FE"/>
                </a:solidFill>
                <a:latin typeface="IBM Plex Sans"/>
              </a:rPr>
              <a:t>THE GOAL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457200"/>
            <a:ext cx="256032" cy="381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1616"/>
                </a:solidFill>
                <a:latin typeface="IBM Plex Sans"/>
              </a:rPr>
              <a:t>Why state-space models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52514E"/>
                </a:solidFill>
                <a:latin typeface="IBM Plex Sans"/>
              </a:rPr>
              <a:t>Mamba-2 is a leading alternative to the Transformer. It processes long sequences in </a:t>
            </a:r>
            <a:r>
              <a:rPr sz="1900" b="1" i="0">
                <a:solidFill>
                  <a:srgbClr val="161616"/>
                </a:solidFill>
                <a:latin typeface="IBM Plex Sans"/>
              </a:rPr>
              <a:t>linear time</a:t>
            </a:r>
            <a:r>
              <a:rPr sz="1900" b="0" i="0">
                <a:solidFill>
                  <a:srgbClr val="52514E"/>
                </a:solidFill>
                <a:latin typeface="IBM Plex Sans"/>
              </a:rPr>
              <a:t> instead of quadratic — a structural advantage for long-context AI.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0F62FE"/>
                </a:solidFill>
                <a:latin typeface="IBM Plex Sans"/>
              </a:rPr>
              <a:t>▪  </a:t>
            </a:r>
            <a:r>
              <a:rPr sz="1700" b="0" i="0">
                <a:solidFill>
                  <a:srgbClr val="52514E"/>
                </a:solidFill>
                <a:latin typeface="IBM Plex Sans"/>
              </a:rPr>
              <a:t>Transformer cost grows with the </a:t>
            </a:r>
            <a:r>
              <a:rPr sz="1700" b="1" i="0">
                <a:solidFill>
                  <a:srgbClr val="52514E"/>
                </a:solidFill>
                <a:latin typeface="IBM Plex Sans"/>
              </a:rPr>
              <a:t>square</a:t>
            </a:r>
            <a:r>
              <a:rPr sz="1700" b="0" i="0">
                <a:solidFill>
                  <a:srgbClr val="52514E"/>
                </a:solidFill>
                <a:latin typeface="IBM Plex Sans"/>
              </a:rPr>
              <a:t> of sequence length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EB6834"/>
                </a:solidFill>
                <a:latin typeface="IBM Plex Sans"/>
              </a:rPr>
              <a:t>▪  </a:t>
            </a:r>
            <a:r>
              <a:rPr sz="1700" b="0" i="0">
                <a:solidFill>
                  <a:srgbClr val="52514E"/>
                </a:solidFill>
                <a:latin typeface="IBM Plex Sans"/>
              </a:rPr>
              <a:t>SSMs stay </a:t>
            </a:r>
            <a:r>
              <a:rPr sz="1700" b="1" i="0">
                <a:solidFill>
                  <a:srgbClr val="52514E"/>
                </a:solidFill>
                <a:latin typeface="IBM Plex Sans"/>
              </a:rPr>
              <a:t>linear</a:t>
            </a:r>
            <a:r>
              <a:rPr sz="1700" b="0" i="0">
                <a:solidFill>
                  <a:srgbClr val="52514E"/>
                </a:solidFill>
                <a:latin typeface="IBM Plex Sans"/>
              </a:rPr>
              <a:t> — cheaper as context grows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BAF7A"/>
                </a:solidFill>
                <a:latin typeface="IBM Plex Sans"/>
              </a:rPr>
              <a:t>▪  </a:t>
            </a:r>
            <a:r>
              <a:rPr sz="1700" b="0" i="0">
                <a:solidFill>
                  <a:srgbClr val="52514E"/>
                </a:solidFill>
                <a:latin typeface="IBM Plex Sans"/>
              </a:rPr>
              <a:t>Used increasingly in frontier long-context &amp; efficiency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828800"/>
            <a:ext cx="5029200" cy="2926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92240" y="1828800"/>
            <a:ext cx="502920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214884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61616"/>
                </a:solidFill>
                <a:latin typeface="IBM Plex Sans"/>
              </a:rPr>
              <a:t>The business case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52514E"/>
                </a:solidFill>
                <a:latin typeface="IBM Plex Sans"/>
              </a:rPr>
              <a:t>For Spyre to be a credible platform for modern AI, it must run the architectures customers want to deploy — not only Transformers.</a:t>
            </a:r>
          </a:p>
          <a:p>
            <a:pPr>
              <a:spcBef>
                <a:spcPts val="1000"/>
              </a:spcBef>
            </a:pPr>
            <a:r>
              <a:rPr sz="1600" b="1" i="0">
                <a:solidFill>
                  <a:srgbClr val="161616"/>
                </a:solidFill>
                <a:latin typeface="IBM Plex Sans"/>
              </a:rPr>
              <a:t>This project proves SSMs run on Spyre</a:t>
            </a:r>
            <a:r>
              <a:rPr sz="1600" b="0" i="0">
                <a:solidFill>
                  <a:srgbClr val="52514E"/>
                </a:solidFill>
                <a:latin typeface="IBM Plex Sans"/>
              </a:rPr>
              <a:t>, and turns the accelerator's constraints into a concrete backend roadmap.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61616"/>
                </a:solidFill>
                <a:latin typeface="IBM Plex Sans"/>
              </a:rPr>
              <a:t>IBM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F6F6F"/>
                </a:solidFill>
                <a:latin typeface="IBM Plex Sans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62FE"/>
                </a:solidFill>
                <a:latin typeface="IBM Plex Sans"/>
              </a:rPr>
              <a:t>THE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457200"/>
            <a:ext cx="256032" cy="381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1616"/>
                </a:solidFill>
                <a:latin typeface="IBM Plex Sans"/>
              </a:rPr>
              <a:t>Spyre is not a GPU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52514E"/>
                </a:solidFill>
                <a:latin typeface="IBM Plex Sans"/>
              </a:rPr>
              <a:t>Spyre is a tiled, memory-oriented accelerator. Getting an SSM to run well means respecting hardware rules a GPU never imposes.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0F62FE"/>
                </a:solidFill>
                <a:latin typeface="IBM Plex Sans"/>
              </a:rPr>
              <a:t>▪  </a:t>
            </a:r>
            <a:r>
              <a:rPr sz="1700" b="0" i="0">
                <a:solidFill>
                  <a:srgbClr val="52514E"/>
                </a:solidFill>
                <a:latin typeface="IBM Plex Sans"/>
              </a:rPr>
              <a:t>Data laid out in </a:t>
            </a:r>
            <a:r>
              <a:rPr sz="1700" b="1" i="0">
                <a:solidFill>
                  <a:srgbClr val="52514E"/>
                </a:solidFill>
                <a:latin typeface="IBM Plex Sans"/>
              </a:rPr>
              <a:t>128-byte blocks</a:t>
            </a:r>
            <a:r>
              <a:rPr sz="1700" b="0" i="0">
                <a:solidFill>
                  <a:srgbClr val="52514E"/>
                </a:solidFill>
                <a:latin typeface="IBM Plex Sans"/>
              </a:rPr>
              <a:t> — every reshape has a cost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EB6834"/>
                </a:solidFill>
                <a:latin typeface="IBM Plex Sans"/>
              </a:rPr>
              <a:t>▪  </a:t>
            </a:r>
            <a:r>
              <a:rPr sz="1700" b="0" i="0">
                <a:solidFill>
                  <a:srgbClr val="52514E"/>
                </a:solidFill>
                <a:latin typeface="IBM Plex Sans"/>
              </a:rPr>
              <a:t>No native </a:t>
            </a:r>
            <a:r>
              <a:rPr sz="1700" b="1" i="0">
                <a:solidFill>
                  <a:srgbClr val="52514E"/>
                </a:solidFill>
                <a:latin typeface="IBM Plex Sans"/>
              </a:rPr>
              <a:t>cumulative-sum</a:t>
            </a:r>
            <a:r>
              <a:rPr sz="1700" b="0" i="0">
                <a:solidFill>
                  <a:srgbClr val="52514E"/>
                </a:solidFill>
                <a:latin typeface="IBM Plex Sans"/>
              </a:rPr>
              <a:t>, no native attention op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BAF7A"/>
                </a:solidFill>
                <a:latin typeface="IBM Plex Sans"/>
              </a:rPr>
              <a:t>▪  </a:t>
            </a:r>
            <a:r>
              <a:rPr sz="1700" b="0" i="0">
                <a:solidFill>
                  <a:srgbClr val="52514E"/>
                </a:solidFill>
                <a:latin typeface="IBM Plex Sans"/>
              </a:rPr>
              <a:t>Per-core memory </a:t>
            </a:r>
            <a:r>
              <a:rPr sz="1700" b="1" i="0">
                <a:solidFill>
                  <a:srgbClr val="52514E"/>
                </a:solidFill>
                <a:latin typeface="IBM Plex Sans"/>
              </a:rPr>
              <a:t>limits</a:t>
            </a:r>
            <a:r>
              <a:rPr sz="1700" b="0" i="0">
                <a:solidFill>
                  <a:srgbClr val="52514E"/>
                </a:solidFill>
                <a:latin typeface="IBM Plex Sans"/>
              </a:rPr>
              <a:t> bound how big any tensor can be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0F62FE"/>
                </a:solidFill>
                <a:latin typeface="IBM Plex Sans"/>
              </a:rPr>
              <a:t>▪  </a:t>
            </a:r>
            <a:r>
              <a:rPr sz="1700" b="0" i="0">
                <a:solidFill>
                  <a:srgbClr val="52514E"/>
                </a:solidFill>
                <a:latin typeface="IBM Plex Sans"/>
              </a:rPr>
              <a:t>Half-precision throughout — </a:t>
            </a:r>
            <a:r>
              <a:rPr sz="1700" b="1" i="0">
                <a:solidFill>
                  <a:srgbClr val="52514E"/>
                </a:solidFill>
                <a:latin typeface="IBM Plex Sans"/>
              </a:rPr>
              <a:t>overflow</a:t>
            </a:r>
            <a:r>
              <a:rPr sz="1700" b="0" i="0">
                <a:solidFill>
                  <a:srgbClr val="52514E"/>
                </a:solidFill>
                <a:latin typeface="IBM Plex Sans"/>
              </a:rPr>
              <a:t> is a real constraint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828800"/>
            <a:ext cx="5029200" cy="2926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92240" y="1828800"/>
            <a:ext cx="5029200" cy="38100"/>
          </a:xfrm>
          <a:prstGeom prst="rect">
            <a:avLst/>
          </a:prstGeom>
          <a:solidFill>
            <a:srgbClr val="C6C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214884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61616"/>
                </a:solidFill>
                <a:latin typeface="IBM Plex Sans"/>
              </a:rPr>
              <a:t>The reference is GPU-shaped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52514E"/>
                </a:solidFill>
                <a:latin typeface="IBM Plex Sans"/>
              </a:rPr>
              <a:t>The canonical Mamba-2 kernel is written for GPUs: giant fused operations, large chunk size, cumulative-sums everywhere.</a:t>
            </a:r>
          </a:p>
          <a:p>
            <a:pPr>
              <a:spcBef>
                <a:spcPts val="1000"/>
              </a:spcBef>
            </a:pPr>
            <a:r>
              <a:rPr sz="1600" b="1" i="0">
                <a:solidFill>
                  <a:srgbClr val="161616"/>
                </a:solidFill>
                <a:latin typeface="IBM Plex Sans"/>
              </a:rPr>
              <a:t>None of it maps directly.</a:t>
            </a:r>
            <a:r>
              <a:rPr sz="1600" b="0" i="0">
                <a:solidFill>
                  <a:srgbClr val="52514E"/>
                </a:solidFill>
                <a:latin typeface="IBM Plex Sans"/>
              </a:rPr>
              <a:t> The work was re-deriving the same math as Spyre-legal operations — and finding where the hardware pushes back.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61616"/>
                </a:solidFill>
                <a:latin typeface="IBM Plex Sans"/>
              </a:rPr>
              <a:t>IBM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F6F6F"/>
                </a:solidFill>
                <a:latin typeface="IBM Plex Sans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62FE"/>
                </a:solidFill>
                <a:latin typeface="IBM Plex Sans"/>
              </a:rPr>
              <a:t>THE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457200"/>
            <a:ext cx="256032" cy="381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1616"/>
                </a:solidFill>
                <a:latin typeface="IBM Plex Sans"/>
              </a:rPr>
              <a:t>Decompose the algorithm into Spyre-legal matmuls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52514E"/>
                </a:solidFill>
                <a:latin typeface="IBM Plex Sans"/>
              </a:rPr>
              <a:t>The SSD algorithm splits a long sequence into chunks. Each stage — written as one big operation in the reference — becomes a chain of batched matrix multiplies with the decay folded into the operands.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108960"/>
            <a:ext cx="2606040" cy="15544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108960"/>
            <a:ext cx="260604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F62FE"/>
                </a:solidFill>
                <a:latin typeface="IBM Plex Sans"/>
              </a:rPr>
              <a:t>STAGE 1</a:t>
            </a:r>
          </a:p>
          <a:p>
            <a:pPr>
              <a:spcBef>
                <a:spcPts val="300"/>
              </a:spcBef>
            </a:pPr>
            <a:r>
              <a:rPr sz="1700" b="1" i="0">
                <a:solidFill>
                  <a:srgbClr val="161616"/>
                </a:solidFill>
                <a:latin typeface="IBM Plex Sans"/>
              </a:rPr>
              <a:t>Intra-chunk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6F6F6F"/>
                </a:solidFill>
                <a:latin typeface="IBM Plex Sans"/>
              </a:rPr>
              <a:t>local mixing within a chunk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7832" y="356616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6C6C6"/>
                </a:solidFill>
                <a:latin typeface="IBM Plex Sans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3108960"/>
            <a:ext cx="2606040" cy="15544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3108960"/>
            <a:ext cx="260604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324612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F62FE"/>
                </a:solidFill>
                <a:latin typeface="IBM Plex Sans"/>
              </a:rPr>
              <a:t>STAGE 2</a:t>
            </a:r>
          </a:p>
          <a:p>
            <a:pPr>
              <a:spcBef>
                <a:spcPts val="300"/>
              </a:spcBef>
            </a:pPr>
            <a:r>
              <a:rPr sz="1700" b="1" i="0">
                <a:solidFill>
                  <a:srgbClr val="161616"/>
                </a:solidFill>
                <a:latin typeface="IBM Plex Sans"/>
              </a:rPr>
              <a:t>Chunk states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6F6F6F"/>
                </a:solidFill>
                <a:latin typeface="IBM Plex Sans"/>
              </a:rPr>
              <a:t>summarize each chunk to a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71032" y="356616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6C6C6"/>
                </a:solidFill>
                <a:latin typeface="IBM Plex Sans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3108960"/>
            <a:ext cx="2606040" cy="15544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3108960"/>
            <a:ext cx="260604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24612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F62FE"/>
                </a:solidFill>
                <a:latin typeface="IBM Plex Sans"/>
              </a:rPr>
              <a:t>STAGE 3</a:t>
            </a:r>
          </a:p>
          <a:p>
            <a:pPr>
              <a:spcBef>
                <a:spcPts val="300"/>
              </a:spcBef>
            </a:pPr>
            <a:r>
              <a:rPr sz="1700" b="1" i="0">
                <a:solidFill>
                  <a:srgbClr val="161616"/>
                </a:solidFill>
                <a:latin typeface="IBM Plex Sans"/>
              </a:rPr>
              <a:t>Inter-chunk scan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6F6F6F"/>
                </a:solidFill>
                <a:latin typeface="IBM Plex Sans"/>
              </a:rPr>
              <a:t>carry state across chunks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14232" y="356616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6C6C6"/>
                </a:solidFill>
                <a:latin typeface="IBM Plex Sans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3108960"/>
            <a:ext cx="2606040" cy="15544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69680" y="3108960"/>
            <a:ext cx="260604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324612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F62FE"/>
                </a:solidFill>
                <a:latin typeface="IBM Plex Sans"/>
              </a:rPr>
              <a:t>STAGE 4</a:t>
            </a:r>
          </a:p>
          <a:p>
            <a:pPr>
              <a:spcBef>
                <a:spcPts val="300"/>
              </a:spcBef>
            </a:pPr>
            <a:r>
              <a:rPr sz="1700" b="1" i="0">
                <a:solidFill>
                  <a:srgbClr val="161616"/>
                </a:solidFill>
                <a:latin typeface="IBM Plex Sans"/>
              </a:rPr>
              <a:t>Combine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6F6F6F"/>
                </a:solidFill>
                <a:latin typeface="IBM Plex Sans"/>
              </a:rPr>
              <a:t>merge local + carried into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9377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0F62FE"/>
                </a:solidFill>
                <a:latin typeface="IBM Plex Sans"/>
              </a:rPr>
              <a:t>Key techniques: </a:t>
            </a:r>
            <a:r>
              <a:rPr sz="1400" b="0" i="0">
                <a:solidFill>
                  <a:srgbClr val="52514E"/>
                </a:solidFill>
                <a:latin typeface="IBM Plex Sans"/>
              </a:rPr>
              <a:t>cumulative-sum as a matrix multiply · decay folded into operands (no giant intermediate) · half-precision-safe exponentials · fused into one compiled kernel.</a:t>
            </a:r>
          </a:p>
          <a:p>
            <a:pPr>
              <a:spcBef>
                <a:spcPts val="600"/>
              </a:spcBef>
            </a:pPr>
            <a:r>
              <a:rPr sz="1500" b="1" i="0">
                <a:solidFill>
                  <a:srgbClr val="EB6834"/>
                </a:solidFill>
                <a:latin typeface="IBM Plex Sans"/>
              </a:rPr>
              <a:t>Design principle: </a:t>
            </a:r>
            <a:r>
              <a:rPr sz="1400" b="0" i="0">
                <a:solidFill>
                  <a:srgbClr val="52514E"/>
                </a:solidFill>
                <a:latin typeface="IBM Plex Sans"/>
              </a:rPr>
              <a:t>the kernel is model-agnostic — it computes Y = SSM(X,A,B,C) only, so it is reusable across any SSM.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355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61616"/>
                </a:solidFill>
                <a:latin typeface="IBM Plex Sans"/>
              </a:rPr>
              <a:t>IBM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F6F6F"/>
                </a:solidFill>
                <a:latin typeface="IBM Plex Sans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62FE"/>
                </a:solidFill>
                <a:latin typeface="IBM Plex Sans"/>
              </a:rPr>
              <a:t>TESTING &amp;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457200"/>
            <a:ext cx="256032" cy="381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1616"/>
                </a:solidFill>
                <a:latin typeface="IBM Plex Sans"/>
              </a:rPr>
              <a:t>A CPU twin separates “our math” from “the backend”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0F62FE"/>
                </a:solidFill>
                <a:latin typeface="IBM Plex Sans"/>
              </a:rPr>
              <a:t>▪  </a:t>
            </a:r>
            <a:r>
              <a:rPr sz="1700" b="1" i="0">
                <a:solidFill>
                  <a:srgbClr val="52514E"/>
                </a:solidFill>
                <a:latin typeface="IBM Plex Sans"/>
              </a:rPr>
              <a:t>Reference oracle:</a:t>
            </a:r>
            <a:r>
              <a:rPr sz="1700" b="0" i="0">
                <a:solidFill>
                  <a:srgbClr val="52514E"/>
                </a:solidFill>
                <a:latin typeface="IBM Plex Sans"/>
              </a:rPr>
              <a:t> the verbatim Mamba-2 kernel on CPU as ground truth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EB6834"/>
                </a:solidFill>
                <a:latin typeface="IBM Plex Sans"/>
              </a:rPr>
              <a:t>▪  </a:t>
            </a:r>
            <a:r>
              <a:rPr sz="1700" b="1" i="0">
                <a:solidFill>
                  <a:srgbClr val="52514E"/>
                </a:solidFill>
                <a:latin typeface="IBM Plex Sans"/>
              </a:rPr>
              <a:t>CPU mirror:</a:t>
            </a:r>
            <a:r>
              <a:rPr sz="1700" b="0" i="0">
                <a:solidFill>
                  <a:srgbClr val="52514E"/>
                </a:solidFill>
                <a:latin typeface="IBM Plex Sans"/>
              </a:rPr>
              <a:t> the same op-sequence as our kernel, in plain PyTorch — pinpoints whether a bug is in our formulation or the hardware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BAF7A"/>
                </a:solidFill>
                <a:latin typeface="IBM Plex Sans"/>
              </a:rPr>
              <a:t>▪  </a:t>
            </a:r>
            <a:r>
              <a:rPr sz="1700" b="1" i="0">
                <a:solidFill>
                  <a:srgbClr val="52514E"/>
                </a:solidFill>
                <a:latin typeface="IBM Plex Sans"/>
              </a:rPr>
              <a:t>Device-faithful oracle:</a:t>
            </a:r>
            <a:r>
              <a:rPr sz="1700" b="0" i="0">
                <a:solidFill>
                  <a:srgbClr val="52514E"/>
                </a:solidFill>
                <a:latin typeface="IBM Plex Sans"/>
              </a:rPr>
              <a:t> a half-precision model that predicts Spyre behavior without a compile — so we tune correctness cheaply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6F6F6F"/>
                </a:solidFill>
                <a:latin typeface="IBM Plex Sans"/>
              </a:rPr>
              <a:t>Acceptance metric: relative-L2 error &lt; 0.05 — the realistic half-precision budget.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828800"/>
            <a:ext cx="2514600" cy="1691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92240" y="1828800"/>
            <a:ext cx="251460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56831" y="2148840"/>
            <a:ext cx="218541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98038"/>
                </a:solidFill>
                <a:latin typeface="IBM Plex Sans"/>
              </a:rPr>
              <a:t>4e-4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6F6F6F"/>
                </a:solidFill>
                <a:latin typeface="IBM Plex Sans"/>
              </a:rPr>
              <a:t>fp32 formulation error — math matches reference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0" y="1828800"/>
            <a:ext cx="2514600" cy="1691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0" y="1828800"/>
            <a:ext cx="251460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08592" y="2148840"/>
            <a:ext cx="218541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F62FE"/>
                </a:solidFill>
                <a:latin typeface="IBM Plex Sans"/>
              </a:rPr>
              <a:t>9e-4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6F6F6F"/>
                </a:solidFill>
                <a:latin typeface="IBM Plex Sans"/>
              </a:rPr>
              <a:t>fp16 numerical floor — best in half precision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3703320"/>
            <a:ext cx="2514600" cy="1691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3703320"/>
            <a:ext cx="251460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1" y="4023359"/>
            <a:ext cx="218541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61616"/>
                </a:solidFill>
                <a:latin typeface="IBM Plex Sans"/>
              </a:rPr>
              <a:t>0.0038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6F6F6F"/>
                </a:solidFill>
                <a:latin typeface="IBM Plex Sans"/>
              </a:rPr>
              <a:t>on-device error at default — near the floor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3703320"/>
            <a:ext cx="2514600" cy="1691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0" y="3703320"/>
            <a:ext cx="251460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08592" y="4023359"/>
            <a:ext cx="218541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61616"/>
                </a:solidFill>
                <a:latin typeface="IBM Plex Sans"/>
              </a:rPr>
              <a:t>&lt; 0.05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6F6F6F"/>
                </a:solidFill>
                <a:latin typeface="IBM Plex Sans"/>
              </a:rPr>
              <a:t>every validated shape stays within budget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355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61616"/>
                </a:solidFill>
                <a:latin typeface="IBM Plex Sans"/>
              </a:rPr>
              <a:t>IBM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F6F6F"/>
                </a:solidFill>
                <a:latin typeface="IBM Plex Sans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62FE"/>
                </a:solidFill>
                <a:latin typeface="IBM Plex Sans"/>
              </a:rPr>
              <a:t>ACCOMPLISHMENTS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457200"/>
            <a:ext cx="256032" cy="381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1616"/>
                </a:solidFill>
                <a:latin typeface="IBM Plex Sans"/>
              </a:rPr>
              <a:t>What works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2697480" cy="1828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269748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2240280"/>
            <a:ext cx="236829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98038"/>
                </a:solidFill>
                <a:latin typeface="IBM Plex Sans"/>
              </a:rPr>
              <a:t>100%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6F6F6F"/>
                </a:solidFill>
                <a:latin typeface="IBM Plex Sans"/>
              </a:rPr>
              <a:t>On-device — full kernel on Spyre, no CPU fallback in the hot path</a:t>
            </a:r>
          </a:p>
        </p:txBody>
      </p:sp>
      <p:sp>
        <p:nvSpPr>
          <p:cNvPr id="8" name="Rectangle 7"/>
          <p:cNvSpPr/>
          <p:nvPr/>
        </p:nvSpPr>
        <p:spPr>
          <a:xfrm>
            <a:off x="3456432" y="1920240"/>
            <a:ext cx="2697480" cy="1828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56432" y="1920240"/>
            <a:ext cx="269748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1024" y="2240280"/>
            <a:ext cx="236829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F62FE"/>
                </a:solidFill>
                <a:latin typeface="IBM Plex Sans"/>
              </a:rPr>
              <a:t>32K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6F6F6F"/>
                </a:solidFill>
                <a:latin typeface="IBM Plex Sans"/>
              </a:rPr>
              <a:t>Max sequence length validated correct on-card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2784" y="1920240"/>
            <a:ext cx="2697480" cy="1828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2784" y="1920240"/>
            <a:ext cx="269748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2240280"/>
            <a:ext cx="236829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61616"/>
                </a:solidFill>
                <a:latin typeface="IBM Plex Sans"/>
              </a:rPr>
              <a:t>1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6F6F6F"/>
                </a:solidFill>
                <a:latin typeface="IBM Plex Sans"/>
              </a:rPr>
              <a:t>Fused kernel — intra + scan + combine in a single graph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89136" y="1920240"/>
            <a:ext cx="2697480" cy="1828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89136" y="1920240"/>
            <a:ext cx="269748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3728" y="2240280"/>
            <a:ext cx="236829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EB6834"/>
                </a:solidFill>
                <a:latin typeface="IBM Plex Sans"/>
              </a:rPr>
              <a:t>~2×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6F6F6F"/>
                </a:solidFill>
                <a:latin typeface="IBM Plex Sans"/>
              </a:rPr>
              <a:t>Kernel speedup from the factored-decay redesign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14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98038"/>
                </a:solidFill>
                <a:latin typeface="IBM Plex Sans"/>
              </a:rPr>
              <a:t>  Fully fused single kernel  </a:t>
            </a:r>
            <a:r>
              <a:rPr sz="1300" b="0" i="0">
                <a:solidFill>
                  <a:srgbClr val="6F6F6F"/>
                </a:solidFill>
                <a:latin typeface="IBM Plex Sans"/>
              </a:rPr>
              <a:t>   </a:t>
            </a:r>
            <a:r>
              <a:rPr sz="1300" b="1" i="0">
                <a:solidFill>
                  <a:srgbClr val="198038"/>
                </a:solidFill>
                <a:latin typeface="IBM Plex Sans"/>
              </a:rPr>
              <a:t>  Accuracy at the fp16 floor  </a:t>
            </a:r>
            <a:r>
              <a:rPr sz="1300" b="0" i="0">
                <a:solidFill>
                  <a:srgbClr val="6F6F6F"/>
                </a:solidFill>
                <a:latin typeface="IBM Plex Sans"/>
              </a:rPr>
              <a:t>   </a:t>
            </a:r>
            <a:r>
              <a:rPr sz="1300" b="1" i="0">
                <a:solidFill>
                  <a:srgbClr val="198038"/>
                </a:solidFill>
                <a:latin typeface="IBM Plex Sans"/>
              </a:rPr>
              <a:t>  Auto-tuned per length  </a:t>
            </a:r>
            <a:r>
              <a:rPr sz="1300" b="0" i="0">
                <a:solidFill>
                  <a:srgbClr val="6F6F6F"/>
                </a:solidFill>
                <a:latin typeface="IBM Plex Sans"/>
              </a:rPr>
              <a:t>   </a:t>
            </a:r>
            <a:r>
              <a:rPr sz="1300" b="1" i="0">
                <a:solidFill>
                  <a:srgbClr val="198038"/>
                </a:solidFill>
                <a:latin typeface="IBM Plex Sans"/>
              </a:rPr>
              <a:t>  Streaming initial-state  </a:t>
            </a:r>
            <a:r>
              <a:rPr sz="1300" b="0" i="0">
                <a:solidFill>
                  <a:srgbClr val="6F6F6F"/>
                </a:solidFill>
                <a:latin typeface="IBM Plex Sans"/>
              </a:rPr>
              <a:t>   </a:t>
            </a:r>
            <a:r>
              <a:rPr sz="1300" b="1" i="0">
                <a:solidFill>
                  <a:srgbClr val="198038"/>
                </a:solidFill>
                <a:latin typeface="IBM Plex Sans"/>
              </a:rPr>
              <a:t>  Safe fallback for large chunks  </a:t>
            </a:r>
            <a:r>
              <a:rPr sz="1300" b="0" i="0">
                <a:solidFill>
                  <a:srgbClr val="6F6F6F"/>
                </a:solidFill>
                <a:latin typeface="IBM Plex Sans"/>
              </a:rPr>
              <a:t>   </a:t>
            </a:r>
            <a:r>
              <a:rPr sz="1300" b="1" i="0">
                <a:solidFill>
                  <a:srgbClr val="198038"/>
                </a:solidFill>
                <a:latin typeface="IBM Plex Sans"/>
              </a:rPr>
              <a:t>  Reusable across SSMs  </a:t>
            </a:r>
            <a:r>
              <a:rPr sz="1300" b="0" i="0">
                <a:solidFill>
                  <a:srgbClr val="6F6F6F"/>
                </a:solidFill>
                <a:latin typeface="IBM Plex Sans"/>
              </a:rPr>
              <a:t> 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2514E"/>
                </a:solidFill>
                <a:latin typeface="IBM Plex Sans"/>
              </a:rPr>
              <a:t>First structured-state-space model kernel to run on Spyre — from a GPU-only reference to a validated, tuned, on-device implementation.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61616"/>
                </a:solidFill>
                <a:latin typeface="IBM Plex Sans"/>
              </a:rPr>
              <a:t>IBM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F6F6F"/>
                </a:solidFill>
                <a:latin typeface="IBM Plex Sans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62FE"/>
                </a:solidFill>
                <a:latin typeface="IBM Plex Sans"/>
              </a:rPr>
              <a:t>PROFILING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457200"/>
            <a:ext cx="256032" cy="381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1616"/>
                </a:solidFill>
                <a:latin typeface="IBM Plex Sans"/>
              </a:rPr>
              <a:t>The kernel is memory-bound, not compute-bound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52514E"/>
                </a:solidFill>
                <a:latin typeface="IBM Plex Sans"/>
              </a:rPr>
              <a:t>Deep profiling gave the single most important insight of the project: the math is nearly free — </a:t>
            </a:r>
            <a:r>
              <a:rPr sz="1900" b="1" i="0">
                <a:solidFill>
                  <a:srgbClr val="161616"/>
                </a:solidFill>
                <a:latin typeface="IBM Plex Sans"/>
              </a:rPr>
              <a:t>moving data is the entire cost.</a:t>
            </a:r>
          </a:p>
          <a:p>
            <a:pPr>
              <a:spcBef>
                <a:spcPts val="2000"/>
              </a:spcBef>
            </a:pPr>
            <a:r>
              <a:rPr sz="3000" b="1" i="0">
                <a:solidFill>
                  <a:srgbClr val="161616"/>
                </a:solidFill>
                <a:latin typeface="IBM Plex Sans"/>
              </a:rPr>
              <a:t>Ideal compute:  </a:t>
            </a:r>
            <a:r>
              <a:rPr sz="3000" b="1" i="0">
                <a:solidFill>
                  <a:srgbClr val="0F62FE"/>
                </a:solidFill>
                <a:latin typeface="IBM Plex Sans"/>
              </a:rPr>
              <a:t>~17 µs</a:t>
            </a:r>
          </a:p>
          <a:p>
            <a:r>
              <a:rPr sz="3000" b="1" i="0">
                <a:solidFill>
                  <a:srgbClr val="161616"/>
                </a:solidFill>
                <a:latin typeface="IBM Plex Sans"/>
              </a:rPr>
              <a:t>Runtime:  </a:t>
            </a:r>
            <a:r>
              <a:rPr sz="3000" b="1" i="0">
                <a:solidFill>
                  <a:srgbClr val="EB6834"/>
                </a:solidFill>
                <a:latin typeface="IBM Plex Sans"/>
              </a:rPr>
              <a:t>milliseconds</a:t>
            </a:r>
          </a:p>
          <a:p>
            <a:pPr>
              <a:spcBef>
                <a:spcPts val="1600"/>
              </a:spcBef>
            </a:pPr>
            <a:r>
              <a:rPr sz="1300" b="0" i="0">
                <a:solidFill>
                  <a:srgbClr val="6F6F6F"/>
                </a:solidFill>
                <a:latin typeface="IBM Plex Sans"/>
              </a:rPr>
              <a:t>Ideal matrix-multiply work is ~17 µs (the compiler's cycle model). The kernel runs orders of magnitude longer — the gap is entirely data movement.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828800"/>
            <a:ext cx="5029200" cy="3291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92240" y="1828800"/>
            <a:ext cx="502920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214884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61616"/>
                </a:solidFill>
                <a:latin typeface="IBM Plex Sans"/>
              </a:rPr>
              <a:t>Why this matters strategically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52514E"/>
                </a:solidFill>
                <a:latin typeface="IBM Plex Sans"/>
              </a:rPr>
              <a:t>It redirected the entire optimization effort. Chasing compute utilization would have been wasted work.</a:t>
            </a:r>
          </a:p>
          <a:p>
            <a:pPr>
              <a:spcBef>
                <a:spcPts val="800"/>
              </a:spcBef>
            </a:pPr>
            <a:r>
              <a:rPr sz="1600" b="1" i="0">
                <a:solidFill>
                  <a:srgbClr val="161616"/>
                </a:solidFill>
                <a:latin typeface="IBM Plex Sans"/>
              </a:rPr>
              <a:t>Every real win came from cutting data movement</a:t>
            </a:r>
            <a:r>
              <a:rPr sz="1600" b="0" i="0">
                <a:solidFill>
                  <a:srgbClr val="52514E"/>
                </a:solidFill>
                <a:latin typeface="IBM Plex Sans"/>
              </a:rPr>
              <a:t> — fewer layout conversions, smaller intermediates, sharing tensors across ops.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61616"/>
                </a:solidFill>
                <a:latin typeface="IBM Plex Sans"/>
              </a:rPr>
              <a:t>IBM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F6F6F"/>
                </a:solidFill>
                <a:latin typeface="IBM Plex Sans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62FE"/>
                </a:solidFill>
                <a:latin typeface="IBM Plex Sans"/>
              </a:rPr>
              <a:t>OPTIMIZATIONS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457200"/>
            <a:ext cx="256032" cy="381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1616"/>
                </a:solidFill>
                <a:latin typeface="IBM Plex Sans"/>
              </a:rPr>
              <a:t>Every win cut data movement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0F62FE"/>
                </a:solidFill>
                <a:latin typeface="IBM Plex Sans"/>
              </a:rPr>
              <a:t>▪  </a:t>
            </a:r>
            <a:r>
              <a:rPr sz="1700" b="1" i="0">
                <a:solidFill>
                  <a:srgbClr val="52514E"/>
                </a:solidFill>
                <a:latin typeface="IBM Plex Sans"/>
              </a:rPr>
              <a:t>Factored decay:</a:t>
            </a:r>
            <a:r>
              <a:rPr sz="1700" b="0" i="0">
                <a:solidFill>
                  <a:srgbClr val="52514E"/>
                </a:solidFill>
                <a:latin typeface="IBM Plex Sans"/>
              </a:rPr>
              <a:t> fold decay into operands, not a giant matrix — killed a 34 MB intermediate, </a:t>
            </a:r>
            <a:r>
              <a:rPr sz="1700" b="1" i="0">
                <a:solidFill>
                  <a:srgbClr val="52514E"/>
                </a:solidFill>
                <a:latin typeface="IBM Plex Sans"/>
              </a:rPr>
              <a:t>~2× faster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EB6834"/>
                </a:solidFill>
                <a:latin typeface="IBM Plex Sans"/>
              </a:rPr>
              <a:t>▪  </a:t>
            </a:r>
            <a:r>
              <a:rPr sz="1700" b="1" i="0">
                <a:solidFill>
                  <a:srgbClr val="52514E"/>
                </a:solidFill>
                <a:latin typeface="IBM Plex Sans"/>
              </a:rPr>
              <a:t>Shared layouts:</a:t>
            </a:r>
            <a:r>
              <a:rPr sz="1700" b="0" i="0">
                <a:solidFill>
                  <a:srgbClr val="52514E"/>
                </a:solidFill>
                <a:latin typeface="IBM Plex Sans"/>
              </a:rPr>
              <a:t> reuse one prepared tensor across two matmuls — measured to the minimum number of conversions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BAF7A"/>
                </a:solidFill>
                <a:latin typeface="IBM Plex Sans"/>
              </a:rPr>
              <a:t>▪  </a:t>
            </a:r>
            <a:r>
              <a:rPr sz="1700" b="1" i="0">
                <a:solidFill>
                  <a:srgbClr val="52514E"/>
                </a:solidFill>
                <a:latin typeface="IBM Plex Sans"/>
              </a:rPr>
              <a:t>Asymmetric mask build:</a:t>
            </a:r>
            <a:r>
              <a:rPr sz="1700" b="0" i="0">
                <a:solidFill>
                  <a:srgbClr val="52514E"/>
                </a:solidFill>
                <a:latin typeface="IBM Plex Sans"/>
              </a:rPr>
              <a:t> broadcast one operand in-kernel — </a:t>
            </a:r>
            <a:r>
              <a:rPr sz="1700" b="1" i="0">
                <a:solidFill>
                  <a:srgbClr val="52514E"/>
                </a:solidFill>
                <a:latin typeface="IBM Plex Sans"/>
              </a:rPr>
              <a:t>halved</a:t>
            </a:r>
            <a:r>
              <a:rPr sz="1700" b="0" i="0">
                <a:solidFill>
                  <a:srgbClr val="52514E"/>
                </a:solidFill>
                <a:latin typeface="IBM Plex Sans"/>
              </a:rPr>
              <a:t> a 268 MB transfer to 134 MB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0F62FE"/>
                </a:solidFill>
                <a:latin typeface="IBM Plex Sans"/>
              </a:rPr>
              <a:t>▪  </a:t>
            </a:r>
            <a:r>
              <a:rPr sz="1700" b="1" i="0">
                <a:solidFill>
                  <a:srgbClr val="52514E"/>
                </a:solidFill>
                <a:latin typeface="IBM Plex Sans"/>
              </a:rPr>
              <a:t>Tiling sweep:</a:t>
            </a:r>
            <a:r>
              <a:rPr sz="1700" b="0" i="0">
                <a:solidFill>
                  <a:srgbClr val="52514E"/>
                </a:solidFill>
                <a:latin typeface="IBM Plex Sans"/>
              </a:rPr>
              <a:t> measured optimal core-tiling on-card — </a:t>
            </a:r>
            <a:r>
              <a:rPr sz="1700" b="1" i="0">
                <a:solidFill>
                  <a:srgbClr val="52514E"/>
                </a:solidFill>
                <a:latin typeface="IBM Plex Sans"/>
              </a:rPr>
              <a:t>~34% faster</a:t>
            </a:r>
            <a:r>
              <a:rPr sz="1700" b="0" i="0">
                <a:solidFill>
                  <a:srgbClr val="52514E"/>
                </a:solidFill>
                <a:latin typeface="IBM Plex Sans"/>
              </a:rPr>
              <a:t> than the previous default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828800"/>
            <a:ext cx="5029200" cy="27432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92240" y="1828800"/>
            <a:ext cx="5029200" cy="38100"/>
          </a:xfrm>
          <a:prstGeom prst="rect">
            <a:avLst/>
          </a:prstGeom>
          <a:solidFill>
            <a:srgbClr val="C6C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214884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61616"/>
                </a:solidFill>
                <a:latin typeface="IBM Plex Sans"/>
              </a:rPr>
              <a:t>Rigor over intuition</a:t>
            </a:r>
          </a:p>
          <a:p>
            <a:pPr>
              <a:spcBef>
                <a:spcPts val="800"/>
              </a:spcBef>
            </a:pPr>
            <a:r>
              <a:rPr sz="1600" b="1" i="0">
                <a:solidFill>
                  <a:srgbClr val="161616"/>
                </a:solidFill>
                <a:latin typeface="IBM Plex Sans"/>
              </a:rPr>
              <a:t>On this hardware, counting operations does not predict speed</a:t>
            </a:r>
            <a:r>
              <a:rPr sz="1600" b="0" i="0">
                <a:solidFill>
                  <a:srgbClr val="52514E"/>
                </a:solidFill>
                <a:latin typeface="IBM Plex Sans"/>
              </a:rPr>
              <a:t> — a cheaper-looking layout can be slower.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52514E"/>
                </a:solidFill>
                <a:latin typeface="IBM Plex Sans"/>
              </a:rPr>
              <a:t>So every change was measured on-device, and several plausible ideas were rejected when the hardware disagreed.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61616"/>
                </a:solidFill>
                <a:latin typeface="IBM Plex Sans"/>
              </a:rPr>
              <a:t>IBM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F6F6F"/>
                </a:solidFill>
                <a:latin typeface="IBM Plex Sans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62FE"/>
                </a:solidFill>
                <a:latin typeface="IBM Plex Sans"/>
              </a:rPr>
              <a:t>OPTIMIZATION · MEASURED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457200"/>
            <a:ext cx="256032" cy="381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1616"/>
                </a:solidFill>
                <a:latin typeface="IBM Plex Sans"/>
              </a:rPr>
              <a:t>Finding: GPU's chunk size is wrong for Spyre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52514E"/>
                </a:solidFill>
                <a:latin typeface="IBM Plex Sans"/>
              </a:rPr>
              <a:t>GPUs use a large chunk size (256). On memory-bound Spyre, the </a:t>
            </a:r>
            <a:r>
              <a:rPr sz="1900" b="1" i="0">
                <a:solidFill>
                  <a:srgbClr val="161616"/>
                </a:solidFill>
                <a:latin typeface="IBM Plex Sans"/>
              </a:rPr>
              <a:t>smallest</a:t>
            </a:r>
            <a:r>
              <a:rPr sz="1900" b="0" i="0">
                <a:solidFill>
                  <a:srgbClr val="52514E"/>
                </a:solidFill>
                <a:latin typeface="IBM Plex Sans"/>
              </a:rPr>
              <a:t> chunk is fastest — the opposite conclusion.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033146"/>
            <a:ext cx="1280160" cy="636133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667386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61616"/>
                </a:solidFill>
                <a:latin typeface="IBM Plex Sans"/>
              </a:rPr>
              <a:t>928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7150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2514E"/>
                </a:solidFill>
                <a:latin typeface="IBM Plex Sans"/>
              </a:rPr>
              <a:t>chunk 64 (best)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4451167"/>
            <a:ext cx="1280160" cy="121811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39" y="4085407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61616"/>
                </a:solidFill>
                <a:latin typeface="IBM Plex Sans"/>
              </a:rPr>
              <a:t>1777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57150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2514E"/>
                </a:solidFill>
                <a:latin typeface="IBM Plex Sans"/>
              </a:rPr>
              <a:t>chunk 128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651760"/>
            <a:ext cx="1280160" cy="3017520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2286000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61616"/>
                </a:solidFill>
                <a:latin typeface="IBM Plex Sans"/>
              </a:rPr>
              <a:t>4402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57150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2514E"/>
                </a:solidFill>
                <a:latin typeface="IBM Plex Sans"/>
              </a:rPr>
              <a:t>chunk 256 (GPU)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172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F6F6F"/>
                </a:solidFill>
                <a:latin typeface="IBM Plex Sans"/>
              </a:rPr>
              <a:t>Sequence length 4,096. Lower is faster. Measured on-card.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5029200" cy="27432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1828800"/>
            <a:ext cx="5029200" cy="38100"/>
          </a:xfrm>
          <a:prstGeom prst="rect">
            <a:avLst/>
          </a:prstGeom>
          <a:solidFill>
            <a:srgbClr val="C6C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214884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61616"/>
                </a:solidFill>
                <a:latin typeface="IBM Plex Sans"/>
              </a:rPr>
              <a:t>Why smaller wins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52514E"/>
                </a:solidFill>
                <a:latin typeface="IBM Plex Sans"/>
              </a:rPr>
              <a:t>Within-chunk work grows with the square of chunk size. Because the kernel is memory-bound, that intermediate dominates — the smallest legal chunk moves the least data.</a:t>
            </a:r>
          </a:p>
          <a:p>
            <a:pPr>
              <a:spcBef>
                <a:spcPts val="800"/>
              </a:spcBef>
            </a:pPr>
            <a:r>
              <a:rPr sz="1600" b="1" i="0">
                <a:solidFill>
                  <a:srgbClr val="161616"/>
                </a:solidFill>
                <a:latin typeface="IBM Plex Sans"/>
              </a:rPr>
              <a:t>Takeaway: </a:t>
            </a:r>
            <a:r>
              <a:rPr sz="1600" b="0" i="0">
                <a:solidFill>
                  <a:srgbClr val="52514E"/>
                </a:solidFill>
                <a:latin typeface="IBM Plex Sans"/>
              </a:rPr>
              <a:t>hardware-specific tuning beats porting GPU defaults.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61616"/>
                </a:solidFill>
                <a:latin typeface="IBM Plex Sans"/>
              </a:rPr>
              <a:t>IBM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F6F6F"/>
                </a:solidFill>
                <a:latin typeface="IBM Plex Sans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62FE"/>
                </a:solidFill>
                <a:latin typeface="IBM Plex Sans"/>
              </a:rPr>
              <a:t>LONG-CONTEXT ENVELOPE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457200"/>
            <a:ext cx="256032" cy="381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1616"/>
                </a:solidFill>
                <a:latin typeface="IBM Plex Sans"/>
              </a:rPr>
              <a:t>Correct &amp; running up to 32K tokens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892405"/>
            <a:ext cx="868680" cy="228234"/>
          </a:xfrm>
          <a:prstGeom prst="rect">
            <a:avLst/>
          </a:prstGeom>
          <a:solidFill>
            <a:srgbClr val="19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572365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1616"/>
                </a:solidFill>
                <a:latin typeface="IBM Plex Sans"/>
              </a:rPr>
              <a:t>0.0039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166359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2514E"/>
                </a:solidFill>
                <a:latin typeface="IBM Plex Sans"/>
              </a:rPr>
              <a:t>4K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4845588"/>
            <a:ext cx="868680" cy="275051"/>
          </a:xfrm>
          <a:prstGeom prst="rect">
            <a:avLst/>
          </a:prstGeom>
          <a:solidFill>
            <a:srgbClr val="19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19" y="452554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1616"/>
                </a:solidFill>
                <a:latin typeface="IBM Plex Sans"/>
              </a:rPr>
              <a:t>0.0047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19" y="5166359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2514E"/>
                </a:solidFill>
                <a:latin typeface="IBM Plex Sans"/>
              </a:rPr>
              <a:t>8K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79" y="4787066"/>
            <a:ext cx="868680" cy="333573"/>
          </a:xfrm>
          <a:prstGeom prst="rect">
            <a:avLst/>
          </a:prstGeom>
          <a:solidFill>
            <a:srgbClr val="19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79" y="446702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1616"/>
                </a:solidFill>
                <a:latin typeface="IBM Plex Sans"/>
              </a:rPr>
              <a:t>0.0057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79" y="5166359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2514E"/>
                </a:solidFill>
                <a:latin typeface="IBM Plex Sans"/>
              </a:rPr>
              <a:t>16K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77639" y="4482754"/>
            <a:ext cx="868680" cy="637885"/>
          </a:xfrm>
          <a:prstGeom prst="rect">
            <a:avLst/>
          </a:prstGeom>
          <a:solidFill>
            <a:srgbClr val="19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39" y="416271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1616"/>
                </a:solidFill>
                <a:latin typeface="IBM Plex Sans"/>
              </a:rPr>
              <a:t>0.0109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5166359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2514E"/>
                </a:solidFill>
                <a:latin typeface="IBM Plex Sans"/>
              </a:rPr>
              <a:t>32K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4206240"/>
            <a:ext cx="868680" cy="914400"/>
          </a:xfrm>
          <a:prstGeom prst="rect">
            <a:avLst/>
          </a:prstGeom>
          <a:noFill/>
          <a:ln w="19050">
            <a:solidFill>
              <a:srgbClr val="DA1E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443484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A1E28"/>
                </a:solidFill>
                <a:latin typeface="IBM Plex Sans"/>
              </a:rP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5166359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A1E28"/>
                </a:solidFill>
                <a:latin typeface="IBM Plex Sans"/>
              </a:rPr>
              <a:t>64K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F6F6F"/>
                </a:solidFill>
                <a:latin typeface="IBM Plex Sans"/>
              </a:rPr>
              <a:t>Green = validated on-device.  Budget = 0.05.  Bars scaled to budget.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82880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52514E"/>
                </a:solidFill>
                <a:latin typeface="IBM Plex Sans"/>
              </a:rPr>
              <a:t>The maximum sequence length </a:t>
            </a:r>
            <a:r>
              <a:rPr sz="1900" b="1" i="0">
                <a:solidFill>
                  <a:srgbClr val="161616"/>
                </a:solidFill>
                <a:latin typeface="IBM Plex Sans"/>
              </a:rPr>
              <a:t>doubled this cycle</a:t>
            </a:r>
            <a:r>
              <a:rPr sz="1900" b="0" i="0">
                <a:solidFill>
                  <a:srgbClr val="52514E"/>
                </a:solidFill>
                <a:latin typeface="IBM Plex Sans"/>
              </a:rPr>
              <a:t> — from 16K to 32K — by re-measuring a hardware limit against the latest backend.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0F62FE"/>
                </a:solidFill>
                <a:latin typeface="IBM Plex Sans"/>
              </a:rPr>
              <a:t>▪  </a:t>
            </a:r>
            <a:r>
              <a:rPr sz="1700" b="0" i="0">
                <a:solidFill>
                  <a:srgbClr val="52514E"/>
                </a:solidFill>
                <a:latin typeface="IBM Plex Sans"/>
              </a:rPr>
              <a:t>Each length uses its own measured-best chunk size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EB6834"/>
                </a:solidFill>
                <a:latin typeface="IBM Plex Sans"/>
              </a:rPr>
              <a:t>▪  </a:t>
            </a:r>
            <a:r>
              <a:rPr sz="1700" b="0" i="0">
                <a:solidFill>
                  <a:srgbClr val="52514E"/>
                </a:solidFill>
                <a:latin typeface="IBM Plex Sans"/>
              </a:rPr>
              <a:t>Error stays within budget across the whole range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BAF7A"/>
                </a:solidFill>
                <a:latin typeface="IBM Plex Sans"/>
              </a:rPr>
              <a:t>▪  </a:t>
            </a:r>
            <a:r>
              <a:rPr sz="1700" b="1" i="0">
                <a:solidFill>
                  <a:srgbClr val="52514E"/>
                </a:solidFill>
                <a:latin typeface="IBM Plex Sans"/>
              </a:rPr>
              <a:t>64K+</a:t>
            </a:r>
            <a:r>
              <a:rPr sz="1700" b="0" i="0">
                <a:solidFill>
                  <a:srgbClr val="52514E"/>
                </a:solidFill>
                <a:latin typeface="IBM Plex Sans"/>
              </a:rPr>
              <a:t> is blocked by a specific, identified backend limitation — not by our math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355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61616"/>
                </a:solidFill>
                <a:latin typeface="IBM Plex Sans"/>
              </a:rPr>
              <a:t>IBM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F6F6F"/>
                </a:solidFill>
                <a:latin typeface="IBM Plex Sans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62FE"/>
                </a:solidFill>
                <a:latin typeface="IBM Plex Sans"/>
              </a:rPr>
              <a:t>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457200"/>
            <a:ext cx="256032" cy="381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1616"/>
                </a:solidFill>
                <a:latin typeface="IBM Plex Sans"/>
              </a:rPr>
              <a:t>One backend fix unlocks the next frontier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52514E"/>
                </a:solidFill>
                <a:latin typeface="IBM Plex Sans"/>
              </a:rPr>
              <a:t>Beyond 32K, one tensor grows past the per-core memory limit. The algorithmic fix is known and CPU-validated — it needs one backend capability.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0F62FE"/>
                </a:solidFill>
                <a:latin typeface="IBM Plex Sans"/>
              </a:rPr>
              <a:t>▪  </a:t>
            </a:r>
            <a:r>
              <a:rPr sz="1700" b="1" i="0">
                <a:solidFill>
                  <a:srgbClr val="52514E"/>
                </a:solidFill>
                <a:latin typeface="IBM Plex Sans"/>
              </a:rPr>
              <a:t>Sub-quadratic scan</a:t>
            </a:r>
            <a:r>
              <a:rPr sz="1700" b="0" i="0">
                <a:solidFill>
                  <a:srgbClr val="52514E"/>
                </a:solidFill>
                <a:latin typeface="IBM Plex Sans"/>
              </a:rPr>
              <a:t> — validated correct on CPU; the math is ready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EB6834"/>
                </a:solidFill>
                <a:latin typeface="IBM Plex Sans"/>
              </a:rPr>
              <a:t>▪  </a:t>
            </a:r>
            <a:r>
              <a:rPr sz="1700" b="1" i="0">
                <a:solidFill>
                  <a:srgbClr val="52514E"/>
                </a:solidFill>
                <a:latin typeface="IBM Plex Sans"/>
              </a:rPr>
              <a:t>The blocker:</a:t>
            </a:r>
            <a:r>
              <a:rPr sz="1700" b="0" i="0">
                <a:solidFill>
                  <a:srgbClr val="52514E"/>
                </a:solidFill>
                <a:latin typeface="IBM Plex Sans"/>
              </a:rPr>
              <a:t> reshaping a tensor into blocks corrupts its layout on-device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BAF7A"/>
                </a:solidFill>
                <a:latin typeface="IBM Plex Sans"/>
              </a:rPr>
              <a:t>▪  </a:t>
            </a:r>
            <a:r>
              <a:rPr sz="1700" b="1" i="0">
                <a:solidFill>
                  <a:srgbClr val="52514E"/>
                </a:solidFill>
                <a:latin typeface="IBM Plex Sans"/>
              </a:rPr>
              <a:t>The ask:</a:t>
            </a:r>
            <a:r>
              <a:rPr sz="1700" b="0" i="0">
                <a:solidFill>
                  <a:srgbClr val="52514E"/>
                </a:solidFill>
                <a:latin typeface="IBM Plex Sans"/>
              </a:rPr>
              <a:t> correct layout across a splitting reshape — one well-scoped capability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828800"/>
            <a:ext cx="5029200" cy="31089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92240" y="1828800"/>
            <a:ext cx="502920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214884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61616"/>
                </a:solidFill>
                <a:latin typeface="IBM Plex Sans"/>
              </a:rPr>
              <a:t>Turning a kernel into a roadmap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52514E"/>
                </a:solidFill>
                <a:latin typeface="IBM Plex Sans"/>
              </a:rPr>
              <a:t>This project produced a prioritized list of backend capabilities, each with a minimal reproducer and a clear payoff: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DA1E28"/>
                </a:solidFill>
                <a:latin typeface="IBM Plex Sans"/>
              </a:rPr>
              <a:t>▪  </a:t>
            </a:r>
            <a:r>
              <a:rPr sz="1400" b="0" i="0">
                <a:solidFill>
                  <a:srgbClr val="52514E"/>
                </a:solidFill>
                <a:latin typeface="IBM Plex Sans"/>
              </a:rPr>
              <a:t>Splitting-reshape layout → unlocks 64K+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EB6834"/>
                </a:solidFill>
                <a:latin typeface="IBM Plex Sans"/>
              </a:rPr>
              <a:t>▪  </a:t>
            </a:r>
            <a:r>
              <a:rPr sz="1400" b="0" i="0">
                <a:solidFill>
                  <a:srgbClr val="52514E"/>
                </a:solidFill>
                <a:latin typeface="IBM Plex Sans"/>
              </a:rPr>
              <a:t>On-chip residency → cuts the memory tax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EB6834"/>
                </a:solidFill>
                <a:latin typeface="IBM Plex Sans"/>
              </a:rPr>
              <a:t>▪  </a:t>
            </a:r>
            <a:r>
              <a:rPr sz="1400" b="0" i="0">
                <a:solidFill>
                  <a:srgbClr val="52514E"/>
                </a:solidFill>
                <a:latin typeface="IBM Plex Sans"/>
              </a:rPr>
              <a:t>Layout-sharing across ops → general speedup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61616"/>
                </a:solidFill>
                <a:latin typeface="IBM Plex Sans"/>
              </a:rPr>
              <a:t>IBM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F6F6F"/>
                </a:solidFill>
                <a:latin typeface="IBM Plex Sans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62FE"/>
                </a:solidFill>
                <a:latin typeface="IBM Plex Sans"/>
              </a:rPr>
              <a:t>IMPACT &amp; LONG-TERM GOAL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457200"/>
            <a:ext cx="256032" cy="381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1616"/>
                </a:solidFill>
                <a:latin typeface="IBM Plex Sans"/>
              </a:rPr>
              <a:t>From one kernel to a platform capability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394960" cy="21031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39496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61616"/>
                </a:solidFill>
                <a:latin typeface="IBM Plex Sans"/>
              </a:rPr>
              <a:t>Impact today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0F62FE"/>
                </a:solidFill>
                <a:latin typeface="IBM Plex Sans"/>
              </a:rPr>
              <a:t>▪  </a:t>
            </a:r>
            <a:r>
              <a:rPr sz="1500" b="0" i="0">
                <a:solidFill>
                  <a:srgbClr val="52514E"/>
                </a:solidFill>
                <a:latin typeface="IBM Plex Sans"/>
              </a:rPr>
              <a:t>SSMs are </a:t>
            </a:r>
            <a:r>
              <a:rPr sz="1500" b="1" i="0">
                <a:solidFill>
                  <a:srgbClr val="52514E"/>
                </a:solidFill>
                <a:latin typeface="IBM Plex Sans"/>
              </a:rPr>
              <a:t>proven viable</a:t>
            </a:r>
            <a:r>
              <a:rPr sz="1500" b="0" i="0">
                <a:solidFill>
                  <a:srgbClr val="52514E"/>
                </a:solidFill>
                <a:latin typeface="IBM Plex Sans"/>
              </a:rPr>
              <a:t> on Spyre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EB6834"/>
                </a:solidFill>
                <a:latin typeface="IBM Plex Sans"/>
              </a:rPr>
              <a:t>▪  </a:t>
            </a:r>
            <a:r>
              <a:rPr sz="1500" b="0" i="0">
                <a:solidFill>
                  <a:srgbClr val="52514E"/>
                </a:solidFill>
                <a:latin typeface="IBM Plex Sans"/>
              </a:rPr>
              <a:t>A validated, tuned, reusable kernel others build on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BAF7A"/>
                </a:solidFill>
                <a:latin typeface="IBM Plex Sans"/>
              </a:rPr>
              <a:t>▪  </a:t>
            </a:r>
            <a:r>
              <a:rPr sz="1500" b="0" i="0">
                <a:solidFill>
                  <a:srgbClr val="52514E"/>
                </a:solidFill>
                <a:latin typeface="IBM Plex Sans"/>
              </a:rPr>
              <a:t>A concrete, evidence-backed backend roadmap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828800"/>
            <a:ext cx="5303520" cy="21031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03520" cy="38100"/>
          </a:xfrm>
          <a:prstGeom prst="rect">
            <a:avLst/>
          </a:prstGeom>
          <a:solidFill>
            <a:srgbClr val="C6C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10312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61616"/>
                </a:solidFill>
                <a:latin typeface="IBM Plex Sans"/>
              </a:rPr>
              <a:t>Long-term goal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0F62FE"/>
                </a:solidFill>
                <a:latin typeface="IBM Plex Sans"/>
              </a:rPr>
              <a:t>▪  </a:t>
            </a:r>
            <a:r>
              <a:rPr sz="1500" b="1" i="0">
                <a:solidFill>
                  <a:srgbClr val="52514E"/>
                </a:solidFill>
                <a:latin typeface="IBM Plex Sans"/>
              </a:rPr>
              <a:t>Full Mamba-2 layer</a:t>
            </a:r>
            <a:r>
              <a:rPr sz="1500" b="0" i="0">
                <a:solidFill>
                  <a:srgbClr val="52514E"/>
                </a:solidFill>
                <a:latin typeface="IBM Plex Sans"/>
              </a:rPr>
              <a:t> — projections, conv, norm, decode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EB6834"/>
                </a:solidFill>
                <a:latin typeface="IBM Plex Sans"/>
              </a:rPr>
              <a:t>▪  </a:t>
            </a:r>
            <a:r>
              <a:rPr sz="1500" b="0" i="0">
                <a:solidFill>
                  <a:srgbClr val="52514E"/>
                </a:solidFill>
                <a:latin typeface="IBM Plex Sans"/>
              </a:rPr>
              <a:t>End-to-end </a:t>
            </a:r>
            <a:r>
              <a:rPr sz="1500" b="1" i="0">
                <a:solidFill>
                  <a:srgbClr val="52514E"/>
                </a:solidFill>
                <a:latin typeface="IBM Plex Sans"/>
              </a:rPr>
              <a:t>SSM inference</a:t>
            </a:r>
            <a:r>
              <a:rPr sz="1500" b="0" i="0">
                <a:solidFill>
                  <a:srgbClr val="52514E"/>
                </a:solidFill>
                <a:latin typeface="IBM Plex Sans"/>
              </a:rPr>
              <a:t> for long-context serving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BAF7A"/>
                </a:solidFill>
                <a:latin typeface="IBM Plex Sans"/>
              </a:rPr>
              <a:t>▪  </a:t>
            </a:r>
            <a:r>
              <a:rPr sz="1500" b="0" i="0">
                <a:solidFill>
                  <a:srgbClr val="52514E"/>
                </a:solidFill>
                <a:latin typeface="IBM Plex Sans"/>
              </a:rPr>
              <a:t>Backend fixes that speed up the whole platform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389120"/>
            <a:ext cx="2697480" cy="1371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389120"/>
            <a:ext cx="269748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52628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F62FE"/>
                </a:solidFill>
                <a:latin typeface="IBM Plex Sans"/>
              </a:rPr>
              <a:t>DONE</a:t>
            </a: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161616"/>
                </a:solidFill>
                <a:latin typeface="IBM Plex Sans"/>
              </a:rPr>
              <a:t>SSD core kernel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6F6F6F"/>
                </a:solidFill>
                <a:latin typeface="IBM Plex Sans"/>
              </a:rPr>
              <a:t>on-device, tuned, 32K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7548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6C6C6"/>
                </a:solidFill>
                <a:latin typeface="IBM Plex Sans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56432" y="4389120"/>
            <a:ext cx="2697480" cy="1371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56432" y="4389120"/>
            <a:ext cx="269748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93592" y="452628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F62FE"/>
                </a:solidFill>
                <a:latin typeface="IBM Plex Sans"/>
              </a:rPr>
              <a:t>NEXT</a:t>
            </a: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161616"/>
                </a:solidFill>
                <a:latin typeface="IBM Plex Sans"/>
              </a:rPr>
              <a:t>Full layer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6F6F6F"/>
                </a:solidFill>
                <a:latin typeface="IBM Plex Sans"/>
              </a:rPr>
              <a:t>proj · conv · norm ·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8192" y="47548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6C6C6"/>
                </a:solidFill>
                <a:latin typeface="IBM Plex Sans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72784" y="4389120"/>
            <a:ext cx="2697480" cy="1371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72784" y="4389120"/>
            <a:ext cx="269748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9944" y="452628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F62FE"/>
                </a:solidFill>
                <a:latin typeface="IBM Plex Sans"/>
              </a:rPr>
              <a:t>THEN</a:t>
            </a: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161616"/>
                </a:solidFill>
                <a:latin typeface="IBM Plex Sans"/>
              </a:rPr>
              <a:t>Decode step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6F6F6F"/>
                </a:solidFill>
                <a:latin typeface="IBM Plex Sans"/>
              </a:rPr>
              <a:t>recurrent inference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4544" y="47548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6C6C6"/>
                </a:solidFill>
                <a:latin typeface="IBM Plex Sans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89136" y="4389120"/>
            <a:ext cx="2697480" cy="1371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89136" y="4389120"/>
            <a:ext cx="269748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26296" y="452628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F62FE"/>
                </a:solidFill>
                <a:latin typeface="IBM Plex Sans"/>
              </a:rPr>
              <a:t>GOAL</a:t>
            </a: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161616"/>
                </a:solidFill>
                <a:latin typeface="IBM Plex Sans"/>
              </a:rPr>
              <a:t>SSM serving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6F6F6F"/>
                </a:solidFill>
                <a:latin typeface="IBM Plex Sans"/>
              </a:rPr>
              <a:t>long-context, on Spyre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355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61616"/>
                </a:solidFill>
                <a:latin typeface="IBM Plex Sans"/>
              </a:rPr>
              <a:t>IBM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F6F6F"/>
                </a:solidFill>
                <a:latin typeface="IBM Plex Sans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62FE"/>
                </a:solidFill>
                <a:latin typeface="IBM Plex Sans"/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457200"/>
            <a:ext cx="256032" cy="381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161616"/>
                </a:solidFill>
                <a:latin typeface="IBM Plex Sans"/>
              </a:rPr>
              <a:t>SSMs run on Spyre —</a:t>
            </a:r>
          </a:p>
          <a:p>
            <a:r>
              <a:rPr sz="4400" b="1" i="0">
                <a:solidFill>
                  <a:srgbClr val="161616"/>
                </a:solidFill>
                <a:latin typeface="IBM Plex Sans"/>
              </a:rPr>
              <a:t>correct, tuned, up to 32K.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2336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52514E"/>
                </a:solidFill>
                <a:latin typeface="IBM Plex Sans"/>
              </a:rPr>
              <a:t>We took a GPU-only architecture, re-derived it for Spyre's constraints, validated it to the precision floor, and optimized it to its memory-bound ceiling.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40233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52514E"/>
                </a:solidFill>
                <a:latin typeface="IBM Plex Sans"/>
              </a:rPr>
              <a:t>The path to full SSM serving is clear — and the backend work it needs is identified, reproduced, and prioritized.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0F62FE"/>
                </a:solidFill>
                <a:latin typeface="IBM Plex Sans"/>
              </a:rPr>
              <a:t>Thank you   ·   Questions welcome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61616"/>
                </a:solidFill>
                <a:latin typeface="IBM Plex Sans"/>
              </a:rPr>
              <a:t>IBM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F6F6F"/>
                </a:solidFill>
                <a:latin typeface="IBM Plex Sans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